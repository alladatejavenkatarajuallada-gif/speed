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70" r:id="rId12"/>
    <p:sldId id="269" r:id="rId13"/>
  </p:sldIdLst>
  <p:sldSz cx="18288000" cy="10287000"/>
  <p:notesSz cx="6858000" cy="9144000"/>
  <p:embeddedFontLst>
    <p:embeddedFont>
      <p:font typeface="Algerian" panose="04020705040A02060702" pitchFamily="82" charset="0"/>
      <p:regular r:id="rId14"/>
    </p:embeddedFont>
    <p:embeddedFont>
      <p:font typeface="Arial Black" panose="020B0A04020102020204" pitchFamily="34" charset="0"/>
      <p:bold r:id="rId15"/>
    </p:embeddedFont>
    <p:embeddedFont>
      <p:font typeface="Bookman Old Style" panose="02050604050505020204" pitchFamily="18" charset="0"/>
      <p:regular r:id="rId16"/>
      <p:bold r:id="rId17"/>
      <p:italic r:id="rId18"/>
      <p:boldItalic r:id="rId19"/>
    </p:embeddedFont>
    <p:embeddedFont>
      <p:font typeface="Mukta" panose="020B0604020202020204" charset="0"/>
      <p:regular r:id="rId20"/>
    </p:embeddedFont>
    <p:embeddedFont>
      <p:font typeface="Mukta Bold" panose="020B0604020202020204" charset="0"/>
      <p:regular r:id="rId21"/>
    </p:embeddedFont>
    <p:embeddedFont>
      <p:font typeface="Mukta Light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BBB8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44" r="-344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71600" y="1028700"/>
            <a:ext cx="16002000" cy="20518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970"/>
              </a:lnSpc>
            </a:pPr>
            <a:r>
              <a:rPr lang="en-US" sz="5400" dirty="0">
                <a:solidFill>
                  <a:srgbClr val="FFFFFF"/>
                </a:solidFill>
                <a:latin typeface="Bookman Old Style" panose="02050604050505020204" pitchFamily="18" charset="0"/>
                <a:ea typeface="HK Modular"/>
                <a:cs typeface="HK Modular"/>
                <a:sym typeface="HK Modular"/>
              </a:rPr>
              <a:t>Drug recommendation system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8600" y="4076700"/>
            <a:ext cx="9144000" cy="3016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Name :  DAKARAPU.ANVESH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Register No : 24A21F0076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Guide Name : </a:t>
            </a:r>
            <a:r>
              <a:rPr lang="en-US" sz="2800" dirty="0" err="1">
                <a:solidFill>
                  <a:schemeClr val="bg1"/>
                </a:solidFill>
                <a:latin typeface="Arial Black" panose="020B0A04020102020204" pitchFamily="34" charset="0"/>
              </a:rPr>
              <a:t>Mr.A.N.L.KUMAR</a:t>
            </a:r>
            <a:endParaRPr lang="en-US" sz="28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Department: Master of Computer Applications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7581900"/>
            <a:ext cx="1147756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SWARNANDHRA  COLLEGE OF  ENGINEERING  AND  TECHNOLOGY</a:t>
            </a:r>
          </a:p>
          <a:p>
            <a:endParaRPr lang="en-I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GB" sz="2400" b="1" dirty="0">
                <a:solidFill>
                  <a:schemeClr val="bg1"/>
                </a:solidFill>
              </a:rPr>
              <a:t>2024-2026</a:t>
            </a:r>
          </a:p>
          <a:p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0CBA25-15F7-DBEA-EC44-79C8FF0B5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6400" y="4076701"/>
            <a:ext cx="2949945" cy="3505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30809">
            <a:off x="-971762" y="6893170"/>
            <a:ext cx="2873124" cy="5430302"/>
          </a:xfrm>
          <a:custGeom>
            <a:avLst/>
            <a:gdLst/>
            <a:ahLst/>
            <a:cxnLst/>
            <a:rect l="l" t="t" r="r" b="b"/>
            <a:pathLst>
              <a:path w="2873124" h="5430302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530809">
            <a:off x="15822738" y="-1526309"/>
            <a:ext cx="2873124" cy="5430302"/>
          </a:xfrm>
          <a:custGeom>
            <a:avLst/>
            <a:gdLst/>
            <a:ahLst/>
            <a:cxnLst/>
            <a:rect l="l" t="t" r="r" b="b"/>
            <a:pathLst>
              <a:path w="2873124" h="5430302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18454452" cy="10342343"/>
          </a:xfrm>
          <a:custGeom>
            <a:avLst/>
            <a:gdLst/>
            <a:ahLst/>
            <a:cxnLst/>
            <a:rect l="l" t="t" r="r" b="b"/>
            <a:pathLst>
              <a:path w="18454452" h="8881337">
                <a:moveTo>
                  <a:pt x="0" y="0"/>
                </a:moveTo>
                <a:lnTo>
                  <a:pt x="18454452" y="0"/>
                </a:lnTo>
                <a:lnTo>
                  <a:pt x="18454452" y="8881337"/>
                </a:lnTo>
                <a:lnTo>
                  <a:pt x="0" y="88813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180" b="-8180"/>
            </a:stretch>
          </a:blipFill>
        </p:spPr>
        <p:txBody>
          <a:bodyPr/>
          <a:lstStyle/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Bookman Old Style" panose="02050604050505020204" pitchFamily="18" charset="0"/>
            </a:endParaRPr>
          </a:p>
          <a:p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Bookman Old Style" panose="02050604050505020204" pitchFamily="18" charset="0"/>
            </a:endParaRPr>
          </a:p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      This project develops a web-based Drug Recommendation System using Flask,       MongoDB, and machine learning to suggest appropriate medicines based on user-input symptoms/diseases.</a:t>
            </a:r>
          </a:p>
          <a:p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Bookman Old Style" panose="02050604050505020204" pitchFamily="18" charset="0"/>
            </a:endParaRPr>
          </a:p>
          <a:p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383728" y="339544"/>
            <a:ext cx="5354092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0"/>
              </a:lnSpc>
            </a:pPr>
            <a:r>
              <a:rPr lang="en-US" sz="4800" b="1" u="sng" dirty="0">
                <a:solidFill>
                  <a:srgbClr val="000000"/>
                </a:solidFill>
                <a:latin typeface="Bookman Old Style" panose="02050604050505020204" pitchFamily="18" charset="0"/>
                <a:ea typeface="HK Modular"/>
                <a:cs typeface="HK Modular"/>
                <a:sym typeface="HK Modular"/>
              </a:rPr>
              <a:t>Introduction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4BA104B-C14E-B7D8-65D0-5AFC9F772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555" y="1461006"/>
            <a:ext cx="13590649" cy="7232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Bookman Old Style" panose="020506040505050202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  <a:latin typeface="Bookman Old Style" panose="020506040505050202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  <a:latin typeface="Bookman Old Style" panose="020506040505050202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  <a:latin typeface="Bookman Old Style" panose="020506040505050202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  <a:latin typeface="Bookman Old Style" panose="020506040505050202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  <a:latin typeface="Bookman Old Style" panose="020506040505050202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  <a:latin typeface="Bookman Old Style" panose="020506040505050202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GB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Why I selected this project ?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GB" b="1" dirty="0">
              <a:solidFill>
                <a:schemeClr val="tx1">
                  <a:lumMod val="95000"/>
                  <a:lumOff val="5000"/>
                </a:schemeClr>
              </a:solidFill>
              <a:latin typeface="Bookman Old Style" panose="0205060405050502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Addresses healthcare accessibility by providing instant medicine suggestions.</a:t>
            </a:r>
            <a:endParaRPr lang="en-GB" b="1" dirty="0">
              <a:solidFill>
                <a:schemeClr val="tx1">
                  <a:lumMod val="95000"/>
                  <a:lumOff val="5000"/>
                </a:schemeClr>
              </a:solidFill>
              <a:latin typeface="Bookman Old Style" panose="0205060405050502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b="1" dirty="0">
              <a:solidFill>
                <a:schemeClr val="tx1">
                  <a:lumMod val="95000"/>
                  <a:lumOff val="5000"/>
                </a:schemeClr>
              </a:solidFill>
              <a:latin typeface="Bookman Old Style" panose="0205060405050502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Helps users make informed decisions before visiting doctors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b="1" dirty="0">
              <a:solidFill>
                <a:schemeClr val="tx1">
                  <a:lumMod val="95000"/>
                  <a:lumOff val="5000"/>
                </a:schemeClr>
              </a:solidFill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30809">
            <a:off x="-971762" y="6893170"/>
            <a:ext cx="2873124" cy="5430302"/>
          </a:xfrm>
          <a:custGeom>
            <a:avLst/>
            <a:gdLst/>
            <a:ahLst/>
            <a:cxnLst/>
            <a:rect l="l" t="t" r="r" b="b"/>
            <a:pathLst>
              <a:path w="2873124" h="5430302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530809">
            <a:off x="15822738" y="-1526309"/>
            <a:ext cx="2873124" cy="5430302"/>
          </a:xfrm>
          <a:custGeom>
            <a:avLst/>
            <a:gdLst/>
            <a:ahLst/>
            <a:cxnLst/>
            <a:rect l="l" t="t" r="r" b="b"/>
            <a:pathLst>
              <a:path w="2873124" h="5430302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32921" y="460427"/>
            <a:ext cx="16856210" cy="8229600"/>
          </a:xfrm>
          <a:custGeom>
            <a:avLst/>
            <a:gdLst/>
            <a:ahLst/>
            <a:cxnLst/>
            <a:rect l="l" t="t" r="r" b="b"/>
            <a:pathLst>
              <a:path w="16856210" h="8229600">
                <a:moveTo>
                  <a:pt x="0" y="0"/>
                </a:moveTo>
                <a:lnTo>
                  <a:pt x="16856210" y="0"/>
                </a:lnTo>
                <a:lnTo>
                  <a:pt x="1685621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8232" b="-1823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414294" y="3668629"/>
            <a:ext cx="9018289" cy="4697630"/>
          </a:xfrm>
          <a:custGeom>
            <a:avLst/>
            <a:gdLst/>
            <a:ahLst/>
            <a:cxnLst/>
            <a:rect l="l" t="t" r="r" b="b"/>
            <a:pathLst>
              <a:path w="9018289" h="4697630">
                <a:moveTo>
                  <a:pt x="0" y="0"/>
                </a:moveTo>
                <a:lnTo>
                  <a:pt x="9018290" y="0"/>
                </a:lnTo>
                <a:lnTo>
                  <a:pt x="9018290" y="4697630"/>
                </a:lnTo>
                <a:lnTo>
                  <a:pt x="0" y="46976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76401" y="2204846"/>
            <a:ext cx="6553199" cy="63350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783"/>
              </a:lnSpc>
              <a:buFont typeface="Wingdings" panose="05000000000000000000" pitchFamily="2" charset="2"/>
              <a:buChar char="§"/>
            </a:pPr>
            <a:r>
              <a:rPr lang="en-US" sz="2394" dirty="0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1Build user authentication (register/login) with role-based access (user/admin)</a:t>
            </a:r>
          </a:p>
          <a:p>
            <a:pPr marL="342900" indent="-342900">
              <a:lnSpc>
                <a:spcPts val="3783"/>
              </a:lnSpc>
              <a:buFont typeface="Wingdings" panose="05000000000000000000" pitchFamily="2" charset="2"/>
              <a:buChar char="§"/>
            </a:pPr>
            <a:endParaRPr lang="en-US" sz="2394" dirty="0">
              <a:solidFill>
                <a:srgbClr val="FFFFFF"/>
              </a:solidFill>
              <a:latin typeface="Mukta Bold"/>
              <a:ea typeface="Mukta Bold"/>
              <a:cs typeface="Mukta Bold"/>
              <a:sym typeface="Mukta Bold"/>
            </a:endParaRPr>
          </a:p>
          <a:p>
            <a:pPr marL="342900" indent="-342900">
              <a:lnSpc>
                <a:spcPts val="3783"/>
              </a:lnSpc>
              <a:buFont typeface="Wingdings" panose="05000000000000000000" pitchFamily="2" charset="2"/>
              <a:buChar char="§"/>
            </a:pPr>
            <a:r>
              <a:rPr lang="en-US" sz="2394" dirty="0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Create AI-powered drug recommendation engine for 200+ diseases</a:t>
            </a:r>
          </a:p>
          <a:p>
            <a:pPr marL="342900" indent="-342900">
              <a:lnSpc>
                <a:spcPts val="3783"/>
              </a:lnSpc>
              <a:buFont typeface="Wingdings" panose="05000000000000000000" pitchFamily="2" charset="2"/>
              <a:buChar char="§"/>
            </a:pPr>
            <a:endParaRPr lang="en-US" sz="2394" dirty="0">
              <a:solidFill>
                <a:srgbClr val="FFFFFF"/>
              </a:solidFill>
              <a:latin typeface="Mukta Bold"/>
              <a:ea typeface="Mukta Bold"/>
              <a:cs typeface="Mukta Bold"/>
              <a:sym typeface="Mukta Bold"/>
            </a:endParaRPr>
          </a:p>
          <a:p>
            <a:pPr marL="342900" indent="-342900">
              <a:lnSpc>
                <a:spcPts val="3783"/>
              </a:lnSpc>
              <a:buFont typeface="Wingdings" panose="05000000000000000000" pitchFamily="2" charset="2"/>
              <a:buChar char="§"/>
            </a:pPr>
            <a:r>
              <a:rPr lang="en-US" sz="2394" dirty="0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Develop admin panel for user management and activity monitoring</a:t>
            </a:r>
          </a:p>
          <a:p>
            <a:pPr marL="342900" indent="-342900">
              <a:lnSpc>
                <a:spcPts val="3783"/>
              </a:lnSpc>
              <a:buFont typeface="Wingdings" panose="05000000000000000000" pitchFamily="2" charset="2"/>
              <a:buChar char="§"/>
            </a:pPr>
            <a:endParaRPr lang="en-US" sz="2394" dirty="0">
              <a:solidFill>
                <a:srgbClr val="FFFFFF"/>
              </a:solidFill>
              <a:latin typeface="Mukta Bold"/>
              <a:ea typeface="Mukta Bold"/>
              <a:cs typeface="Mukta Bold"/>
              <a:sym typeface="Mukta Bold"/>
            </a:endParaRPr>
          </a:p>
          <a:p>
            <a:pPr marL="342900" indent="-342900">
              <a:lnSpc>
                <a:spcPts val="3783"/>
              </a:lnSpc>
              <a:buFont typeface="Wingdings" panose="05000000000000000000" pitchFamily="2" charset="2"/>
              <a:buChar char="§"/>
            </a:pPr>
            <a:r>
              <a:rPr lang="en-US" sz="2394" dirty="0">
                <a:solidFill>
                  <a:srgbClr val="FFFFFF"/>
                </a:solidFill>
                <a:latin typeface="Mukta Bold"/>
                <a:ea typeface="Mukta Bold"/>
                <a:cs typeface="Mukta Bold"/>
                <a:sym typeface="Mukta Bold"/>
              </a:rPr>
              <a:t>Generate professional medicine reports with dosage information</a:t>
            </a:r>
          </a:p>
          <a:p>
            <a:pPr marL="342900" indent="-342900">
              <a:lnSpc>
                <a:spcPts val="3783"/>
              </a:lnSpc>
              <a:buFont typeface="Wingdings" panose="05000000000000000000" pitchFamily="2" charset="2"/>
              <a:buChar char="§"/>
            </a:pPr>
            <a:endParaRPr lang="en-US" sz="2394" dirty="0">
              <a:solidFill>
                <a:srgbClr val="FFFFFF"/>
              </a:solidFill>
              <a:latin typeface="Mukta Bold"/>
              <a:ea typeface="Mukta Bold"/>
              <a:cs typeface="Mukta Bold"/>
              <a:sym typeface="Mukta Bold"/>
            </a:endParaRPr>
          </a:p>
          <a:p>
            <a:pPr marL="342900" indent="-342900" algn="l">
              <a:lnSpc>
                <a:spcPts val="3783"/>
              </a:lnSpc>
              <a:buFont typeface="Wingdings" panose="05000000000000000000" pitchFamily="2" charset="2"/>
              <a:buChar char="§"/>
            </a:pPr>
            <a:endParaRPr lang="en-US" sz="2394" dirty="0">
              <a:solidFill>
                <a:srgbClr val="FFFFFF"/>
              </a:solidFill>
              <a:latin typeface="Mukta Light"/>
              <a:ea typeface="Mukta Light"/>
              <a:cs typeface="Mukta Light"/>
              <a:sym typeface="Mukta Ligh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362200" y="942975"/>
            <a:ext cx="4603565" cy="6523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0"/>
              </a:lnSpc>
            </a:pPr>
            <a:r>
              <a:rPr lang="en-US" sz="3600" u="sng" dirty="0">
                <a:solidFill>
                  <a:srgbClr val="FFFFFF"/>
                </a:solidFill>
                <a:latin typeface="Bookman Old Style" panose="02050604050505020204" pitchFamily="18" charset="0"/>
                <a:ea typeface="HK Modular"/>
                <a:cs typeface="HK Modular"/>
                <a:sym typeface="HK Modular"/>
              </a:rPr>
              <a:t>2.0bjectives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30809">
            <a:off x="-971762" y="6893170"/>
            <a:ext cx="2873124" cy="5430302"/>
          </a:xfrm>
          <a:custGeom>
            <a:avLst/>
            <a:gdLst/>
            <a:ahLst/>
            <a:cxnLst/>
            <a:rect l="l" t="t" r="r" b="b"/>
            <a:pathLst>
              <a:path w="2873124" h="5430302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530809">
            <a:off x="15822738" y="-1526309"/>
            <a:ext cx="2873124" cy="5430302"/>
          </a:xfrm>
          <a:custGeom>
            <a:avLst/>
            <a:gdLst/>
            <a:ahLst/>
            <a:cxnLst/>
            <a:rect l="l" t="t" r="r" b="b"/>
            <a:pathLst>
              <a:path w="2873124" h="5430302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9822" y="-2197268"/>
            <a:ext cx="19134262" cy="12748202"/>
          </a:xfrm>
          <a:custGeom>
            <a:avLst/>
            <a:gdLst/>
            <a:ahLst/>
            <a:cxnLst/>
            <a:rect l="l" t="t" r="r" b="b"/>
            <a:pathLst>
              <a:path w="19134262" h="12748202">
                <a:moveTo>
                  <a:pt x="0" y="0"/>
                </a:moveTo>
                <a:lnTo>
                  <a:pt x="19134262" y="0"/>
                </a:lnTo>
                <a:lnTo>
                  <a:pt x="19134262" y="12748202"/>
                </a:lnTo>
                <a:lnTo>
                  <a:pt x="0" y="127482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984096" y="1562101"/>
            <a:ext cx="15646055" cy="6027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262" lvl="1">
              <a:lnSpc>
                <a:spcPts val="4731"/>
              </a:lnSpc>
            </a:pPr>
            <a:r>
              <a:rPr lang="en-US" sz="2994" dirty="0">
                <a:solidFill>
                  <a:schemeClr val="bg1"/>
                </a:solidFill>
                <a:latin typeface="Mukta"/>
                <a:ea typeface="Mukta"/>
                <a:cs typeface="Mukta"/>
                <a:sym typeface="Mukta"/>
              </a:rPr>
              <a:t>Existing System:</a:t>
            </a:r>
          </a:p>
          <a:p>
            <a:pPr marL="646523" lvl="1" indent="-323261">
              <a:lnSpc>
                <a:spcPts val="4731"/>
              </a:lnSpc>
              <a:buFont typeface="Arial"/>
              <a:buChar char="•"/>
            </a:pPr>
            <a:r>
              <a:rPr lang="en-US" sz="2994" dirty="0">
                <a:solidFill>
                  <a:schemeClr val="bg1"/>
                </a:solidFill>
                <a:latin typeface="Mukta"/>
                <a:ea typeface="Mukta"/>
                <a:cs typeface="Mukta"/>
                <a:sym typeface="Mukta"/>
              </a:rPr>
              <a:t>Users rely on memory or Google for medicine selection</a:t>
            </a:r>
          </a:p>
          <a:p>
            <a:pPr marL="646523" lvl="1" indent="-323261">
              <a:lnSpc>
                <a:spcPts val="4731"/>
              </a:lnSpc>
              <a:buFont typeface="Arial"/>
              <a:buChar char="•"/>
            </a:pPr>
            <a:r>
              <a:rPr lang="en-US" sz="2994" dirty="0">
                <a:solidFill>
                  <a:schemeClr val="bg1"/>
                </a:solidFill>
                <a:latin typeface="Mukta"/>
                <a:ea typeface="Mukta"/>
                <a:cs typeface="Mukta"/>
                <a:sym typeface="Mukta"/>
              </a:rPr>
              <a:t>No personalized history or professional recommendations</a:t>
            </a:r>
          </a:p>
          <a:p>
            <a:pPr marL="646523" lvl="1" indent="-323261">
              <a:lnSpc>
                <a:spcPts val="4731"/>
              </a:lnSpc>
              <a:buFont typeface="Arial"/>
              <a:buChar char="•"/>
            </a:pPr>
            <a:r>
              <a:rPr lang="en-US" sz="2994" dirty="0">
                <a:solidFill>
                  <a:schemeClr val="bg1"/>
                </a:solidFill>
                <a:latin typeface="Mukta"/>
                <a:ea typeface="Mukta"/>
                <a:cs typeface="Mukta"/>
                <a:sym typeface="Mukta"/>
              </a:rPr>
              <a:t>No admin oversight for usage analytics</a:t>
            </a:r>
          </a:p>
          <a:p>
            <a:pPr marL="646523" lvl="1" indent="-323261">
              <a:lnSpc>
                <a:spcPts val="4731"/>
              </a:lnSpc>
              <a:buFont typeface="Arial"/>
              <a:buChar char="•"/>
            </a:pPr>
            <a:endParaRPr lang="en-US" sz="2994" dirty="0">
              <a:solidFill>
                <a:schemeClr val="bg1"/>
              </a:solidFill>
              <a:latin typeface="Mukta"/>
              <a:ea typeface="Mukta"/>
              <a:cs typeface="Mukta"/>
              <a:sym typeface="Mukta"/>
            </a:endParaRPr>
          </a:p>
          <a:p>
            <a:pPr>
              <a:lnSpc>
                <a:spcPts val="4731"/>
              </a:lnSpc>
            </a:pPr>
            <a:r>
              <a:rPr lang="en-US" sz="2994" b="1" dirty="0">
                <a:solidFill>
                  <a:schemeClr val="bg1"/>
                </a:solidFill>
                <a:latin typeface="Mukta Bold"/>
                <a:ea typeface="Mukta Bold"/>
                <a:cs typeface="Mukta Bold"/>
                <a:sym typeface="Mukta Bold"/>
              </a:rPr>
              <a:t> Limitations:</a:t>
            </a:r>
          </a:p>
          <a:p>
            <a:pPr marL="457200" indent="-457200">
              <a:lnSpc>
                <a:spcPts val="4731"/>
              </a:lnSpc>
              <a:buFont typeface="Wingdings" panose="05000000000000000000" pitchFamily="2" charset="2"/>
              <a:buChar char="§"/>
            </a:pPr>
            <a:r>
              <a:rPr lang="en-US" sz="2994" b="1" dirty="0">
                <a:solidFill>
                  <a:schemeClr val="bg1"/>
                </a:solidFill>
                <a:latin typeface="Mukta Bold"/>
                <a:ea typeface="Mukta Bold"/>
                <a:cs typeface="Mukta Bold"/>
                <a:sym typeface="Mukta Bold"/>
              </a:rPr>
              <a:t>Inaccurate self-medication leads to health risks</a:t>
            </a:r>
          </a:p>
          <a:p>
            <a:pPr marL="457200" indent="-457200">
              <a:lnSpc>
                <a:spcPts val="4731"/>
              </a:lnSpc>
              <a:buFont typeface="Wingdings" panose="05000000000000000000" pitchFamily="2" charset="2"/>
              <a:buChar char="§"/>
            </a:pPr>
            <a:r>
              <a:rPr lang="en-US" sz="2994" b="1" dirty="0">
                <a:solidFill>
                  <a:schemeClr val="bg1"/>
                </a:solidFill>
                <a:latin typeface="Mukta Bold"/>
                <a:ea typeface="Mukta Bold"/>
                <a:cs typeface="Mukta Bold"/>
                <a:sym typeface="Mukta Bold"/>
              </a:rPr>
              <a:t>No centralized recommendation database</a:t>
            </a:r>
          </a:p>
          <a:p>
            <a:pPr marL="457200" indent="-457200">
              <a:lnSpc>
                <a:spcPts val="4731"/>
              </a:lnSpc>
              <a:buFont typeface="Wingdings" panose="05000000000000000000" pitchFamily="2" charset="2"/>
              <a:buChar char="§"/>
            </a:pPr>
            <a:r>
              <a:rPr lang="en-US" sz="2994" b="1" dirty="0">
                <a:solidFill>
                  <a:schemeClr val="bg1"/>
                </a:solidFill>
                <a:latin typeface="Mukta Bold"/>
                <a:ea typeface="Mukta Bold"/>
                <a:cs typeface="Mukta Bold"/>
                <a:sym typeface="Mukta Bold"/>
              </a:rPr>
              <a:t>Lack of user activity tracking</a:t>
            </a:r>
          </a:p>
          <a:p>
            <a:pPr>
              <a:lnSpc>
                <a:spcPts val="4731"/>
              </a:lnSpc>
            </a:pPr>
            <a:endParaRPr lang="en-US" sz="2994" b="1" dirty="0">
              <a:solidFill>
                <a:schemeClr val="bg1"/>
              </a:solidFill>
              <a:latin typeface="Mukta Bold"/>
              <a:ea typeface="Mukta Bold"/>
              <a:cs typeface="Mukta Bold"/>
              <a:sym typeface="Mukta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984096" y="0"/>
            <a:ext cx="10817504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70"/>
              </a:lnSpc>
            </a:pPr>
            <a:r>
              <a:rPr lang="en-GB" sz="5400" dirty="0">
                <a:solidFill>
                  <a:schemeClr val="bg1"/>
                </a:solidFill>
                <a:latin typeface="Bookman Old Style" panose="02050604050505020204" pitchFamily="18" charset="0"/>
              </a:rPr>
              <a:t>3.Existing System &amp; Limitations</a:t>
            </a:r>
            <a:endParaRPr lang="en-US" sz="5400" u="sng" dirty="0">
              <a:solidFill>
                <a:schemeClr val="bg1"/>
              </a:solidFill>
              <a:latin typeface="Bookman Old Style" panose="02050604050505020204" pitchFamily="18" charset="0"/>
              <a:ea typeface="HK Modular"/>
              <a:cs typeface="HK Modular"/>
              <a:sym typeface="HK Modula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30809">
            <a:off x="-971762" y="6893170"/>
            <a:ext cx="2873124" cy="5430302"/>
          </a:xfrm>
          <a:custGeom>
            <a:avLst/>
            <a:gdLst/>
            <a:ahLst/>
            <a:cxnLst/>
            <a:rect l="l" t="t" r="r" b="b"/>
            <a:pathLst>
              <a:path w="2873124" h="5430302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530809">
            <a:off x="15822738" y="-1526309"/>
            <a:ext cx="2873124" cy="5430302"/>
          </a:xfrm>
          <a:custGeom>
            <a:avLst/>
            <a:gdLst/>
            <a:ahLst/>
            <a:cxnLst/>
            <a:rect l="l" t="t" r="r" b="b"/>
            <a:pathLst>
              <a:path w="2873124" h="5430302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-2295905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00200" y="2019300"/>
            <a:ext cx="12801600" cy="720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</a:rPr>
              <a:t>What your project does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chemeClr val="bg1"/>
                </a:solidFill>
              </a:rPr>
              <a:t>Flask web app with beautiful animated UI (login, dashboard, profile)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chemeClr val="bg1"/>
                </a:solidFill>
              </a:rPr>
              <a:t>AI recommendation engine suggesting 3 medicines per disease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chemeClr val="bg1"/>
                </a:solidFill>
              </a:rPr>
              <a:t>Real-time search by symptom/disease name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chemeClr val="bg1"/>
                </a:solidFill>
              </a:rPr>
              <a:t>Admin dashboard for user management, role changes, activity logs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>
                <a:solidFill>
                  <a:schemeClr val="bg1"/>
                </a:solidFill>
              </a:rPr>
              <a:t>Report generation with medicine details and timestamps</a:t>
            </a:r>
            <a:br>
              <a:rPr lang="en-GB" sz="3600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755171"/>
            <a:ext cx="9684128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270"/>
              </a:lnSpc>
            </a:pPr>
            <a:r>
              <a:rPr lang="en-IN" sz="4800" dirty="0">
                <a:solidFill>
                  <a:schemeClr val="bg1"/>
                </a:solidFill>
                <a:latin typeface="Bookman Old Style" panose="02050604050505020204" pitchFamily="18" charset="0"/>
              </a:rPr>
              <a:t>4. </a:t>
            </a:r>
            <a:r>
              <a:rPr lang="en-IN" sz="5400" dirty="0">
                <a:solidFill>
                  <a:schemeClr val="bg1"/>
                </a:solidFill>
                <a:latin typeface="Bookman Old Style" panose="02050604050505020204" pitchFamily="18" charset="0"/>
              </a:rPr>
              <a:t>Proposed System </a:t>
            </a:r>
            <a:r>
              <a:rPr lang="en-IN" sz="4800" dirty="0">
                <a:solidFill>
                  <a:schemeClr val="bg1"/>
                </a:solidFill>
                <a:latin typeface="Bookman Old Style" panose="02050604050505020204" pitchFamily="18" charset="0"/>
              </a:rPr>
              <a:t>:</a:t>
            </a:r>
            <a:endParaRPr lang="en-US" sz="4478" u="sng" dirty="0">
              <a:solidFill>
                <a:schemeClr val="bg1"/>
              </a:solidFill>
              <a:latin typeface="Bookman Old Style" panose="02050604050505020204" pitchFamily="18" charset="0"/>
              <a:ea typeface="HK Modular"/>
              <a:cs typeface="HK Modular"/>
              <a:sym typeface="HK Modula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75000"/>
              </a:schemeClr>
            </a:gs>
            <a:gs pos="98000">
              <a:srgbClr val="0A128C"/>
            </a:gs>
            <a:gs pos="87000">
              <a:schemeClr val="tx1"/>
            </a:gs>
            <a:gs pos="100000">
              <a:srgbClr val="7005D4"/>
            </a:gs>
            <a:gs pos="100000">
              <a:srgbClr val="8C3D9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307358" y="2869551"/>
            <a:ext cx="3375219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1463" lvl="1" algn="l">
              <a:lnSpc>
                <a:spcPts val="3387"/>
              </a:lnSpc>
            </a:pPr>
            <a:endParaRPr lang="en-US" sz="1944" dirty="0">
              <a:solidFill>
                <a:srgbClr val="FFFFFF"/>
              </a:solidFill>
              <a:latin typeface="Mukta Light"/>
              <a:ea typeface="Mukta Light"/>
              <a:cs typeface="Mukta Light"/>
              <a:sym typeface="Mukta Light"/>
            </a:endParaRPr>
          </a:p>
          <a:p>
            <a:pPr algn="l">
              <a:lnSpc>
                <a:spcPts val="3071"/>
              </a:lnSpc>
            </a:pPr>
            <a:endParaRPr lang="en-US" sz="1944" dirty="0">
              <a:solidFill>
                <a:srgbClr val="FFFFFF"/>
              </a:solidFill>
              <a:latin typeface="Mukta Light"/>
              <a:ea typeface="Mukta Light"/>
              <a:cs typeface="Mukta Light"/>
              <a:sym typeface="Mukta Light"/>
            </a:endParaRPr>
          </a:p>
        </p:txBody>
      </p:sp>
      <p:sp>
        <p:nvSpPr>
          <p:cNvPr id="7" name="Freeform 7"/>
          <p:cNvSpPr/>
          <p:nvPr/>
        </p:nvSpPr>
        <p:spPr>
          <a:xfrm rot="-3530809">
            <a:off x="15822738" y="-1744316"/>
            <a:ext cx="2873124" cy="5430302"/>
          </a:xfrm>
          <a:custGeom>
            <a:avLst/>
            <a:gdLst/>
            <a:ahLst/>
            <a:cxnLst/>
            <a:rect l="l" t="t" r="r" b="b"/>
            <a:pathLst>
              <a:path w="2873124" h="5430302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14400" y="595041"/>
            <a:ext cx="15389504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70"/>
              </a:lnSpc>
            </a:pPr>
            <a:r>
              <a:rPr lang="en-IN" sz="5400" dirty="0">
                <a:solidFill>
                  <a:schemeClr val="bg1"/>
                </a:solidFill>
                <a:latin typeface="Bookman Old Style" panose="02050604050505020204" pitchFamily="18" charset="0"/>
              </a:rPr>
              <a:t>5. Methodology / Architecture</a:t>
            </a:r>
            <a:endParaRPr lang="en-US" sz="5400" dirty="0">
              <a:solidFill>
                <a:schemeClr val="bg1"/>
              </a:solidFill>
              <a:latin typeface="Bookman Old Style" panose="02050604050505020204" pitchFamily="18" charset="0"/>
              <a:ea typeface="HK Modular"/>
              <a:cs typeface="HK Modular"/>
              <a:sym typeface="HK Modular"/>
            </a:endParaRPr>
          </a:p>
        </p:txBody>
      </p:sp>
      <p:sp>
        <p:nvSpPr>
          <p:cNvPr id="9" name="Freeform 9"/>
          <p:cNvSpPr/>
          <p:nvPr/>
        </p:nvSpPr>
        <p:spPr>
          <a:xfrm rot="-3530809">
            <a:off x="-971762" y="6893170"/>
            <a:ext cx="2873124" cy="5430302"/>
          </a:xfrm>
          <a:custGeom>
            <a:avLst/>
            <a:gdLst/>
            <a:ahLst/>
            <a:cxnLst/>
            <a:rect l="l" t="t" r="r" b="b"/>
            <a:pathLst>
              <a:path w="2873124" h="5430302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867266" y="5467148"/>
            <a:ext cx="3375219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1463" lvl="1" algn="l">
              <a:lnSpc>
                <a:spcPts val="3387"/>
              </a:lnSpc>
            </a:pPr>
            <a:endParaRPr lang="en-US" sz="2144" dirty="0">
              <a:solidFill>
                <a:srgbClr val="FFFFFF"/>
              </a:solidFill>
              <a:latin typeface="Mukta Light"/>
              <a:ea typeface="Mukta Light"/>
              <a:cs typeface="Mukta Light"/>
              <a:sym typeface="Mukta Light"/>
            </a:endParaRPr>
          </a:p>
          <a:p>
            <a:pPr algn="l">
              <a:lnSpc>
                <a:spcPts val="3387"/>
              </a:lnSpc>
            </a:pPr>
            <a:endParaRPr lang="en-US" sz="2144" dirty="0">
              <a:solidFill>
                <a:srgbClr val="FFFFFF"/>
              </a:solidFill>
              <a:latin typeface="Mukta Light"/>
              <a:ea typeface="Mukta Light"/>
              <a:cs typeface="Mukta Light"/>
              <a:sym typeface="Mukta Ligh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14401" y="1866900"/>
            <a:ext cx="8839199" cy="8402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85900" lvl="2" indent="-571500">
              <a:buFont typeface="Wingdings" panose="05000000000000000000" pitchFamily="2" charset="2"/>
              <a:buChar char="§"/>
            </a:pPr>
            <a:r>
              <a:rPr lang="en-GB" sz="3600" b="1" dirty="0">
                <a:solidFill>
                  <a:schemeClr val="bg1"/>
                </a:solidFill>
              </a:rPr>
              <a:t>User Input (Symptom) → CSV Database (200+ Diseases) → </a:t>
            </a:r>
          </a:p>
          <a:p>
            <a:pPr marL="1485900" lvl="2" indent="-571500">
              <a:buFont typeface="Wingdings" panose="05000000000000000000" pitchFamily="2" charset="2"/>
              <a:buChar char="§"/>
            </a:pPr>
            <a:r>
              <a:rPr lang="en-GB" sz="3600" b="1" dirty="0">
                <a:solidFill>
                  <a:schemeClr val="bg1"/>
                </a:solidFill>
              </a:rPr>
              <a:t>Recommendation Algorithm → Top 3 Medicines → </a:t>
            </a:r>
          </a:p>
          <a:p>
            <a:pPr marL="1485900" lvl="2" indent="-571500">
              <a:buFont typeface="Wingdings" panose="05000000000000000000" pitchFamily="2" charset="2"/>
              <a:buChar char="§"/>
            </a:pPr>
            <a:r>
              <a:rPr lang="en-GB" sz="3600" b="1" dirty="0" err="1">
                <a:solidFill>
                  <a:schemeClr val="bg1"/>
                </a:solidFill>
              </a:rPr>
              <a:t>Streamlit</a:t>
            </a:r>
            <a:r>
              <a:rPr lang="en-GB" sz="3600" b="1" dirty="0">
                <a:solidFill>
                  <a:schemeClr val="bg1"/>
                </a:solidFill>
              </a:rPr>
              <a:t> Dashboard + Report Generation</a:t>
            </a:r>
          </a:p>
          <a:p>
            <a:pPr marL="1485900" lvl="2" indent="-571500">
              <a:buFont typeface="Wingdings" panose="05000000000000000000" pitchFamily="2" charset="2"/>
              <a:buChar char="§"/>
            </a:pPr>
            <a:r>
              <a:rPr lang="en-GB" sz="3600" b="1" dirty="0">
                <a:solidFill>
                  <a:schemeClr val="bg1"/>
                </a:solidFill>
              </a:rPr>
              <a:t>Process:</a:t>
            </a:r>
          </a:p>
          <a:p>
            <a:pPr marL="1485900" lvl="2" indent="-571500">
              <a:buFont typeface="Wingdings" panose="05000000000000000000" pitchFamily="2" charset="2"/>
              <a:buChar char="§"/>
            </a:pPr>
            <a:r>
              <a:rPr lang="en-GB" sz="3600" b="1" dirty="0">
                <a:solidFill>
                  <a:schemeClr val="bg1"/>
                </a:solidFill>
              </a:rPr>
              <a:t>User registers/logs in</a:t>
            </a:r>
          </a:p>
          <a:p>
            <a:pPr marL="1485900" lvl="2" indent="-571500">
              <a:buFont typeface="Wingdings" panose="05000000000000000000" pitchFamily="2" charset="2"/>
              <a:buChar char="§"/>
            </a:pPr>
            <a:r>
              <a:rPr lang="en-GB" sz="3600" b="1" dirty="0">
                <a:solidFill>
                  <a:schemeClr val="bg1"/>
                </a:solidFill>
              </a:rPr>
              <a:t>Enters symptom (e.g., "Fever")</a:t>
            </a:r>
          </a:p>
          <a:p>
            <a:pPr marL="1485900" lvl="2" indent="-571500">
              <a:buFont typeface="Wingdings" panose="05000000000000000000" pitchFamily="2" charset="2"/>
              <a:buChar char="§"/>
            </a:pPr>
            <a:r>
              <a:rPr lang="en-GB" sz="3600" b="1" dirty="0">
                <a:solidFill>
                  <a:schemeClr val="bg1"/>
                </a:solidFill>
              </a:rPr>
              <a:t>System matches against 200+ disease database</a:t>
            </a:r>
          </a:p>
          <a:p>
            <a:pPr marL="1485900" lvl="2" indent="-571500">
              <a:buFont typeface="Wingdings" panose="05000000000000000000" pitchFamily="2" charset="2"/>
              <a:buChar char="§"/>
            </a:pPr>
            <a:r>
              <a:rPr lang="en-GB" sz="3600" b="1" dirty="0">
                <a:solidFill>
                  <a:schemeClr val="bg1"/>
                </a:solidFill>
              </a:rPr>
              <a:t>Returns 3 recommended medicines with dosage</a:t>
            </a:r>
          </a:p>
          <a:p>
            <a:pPr marL="1485900" lvl="2" indent="-571500">
              <a:buFont typeface="Wingdings" panose="05000000000000000000" pitchFamily="2" charset="2"/>
              <a:buChar char="§"/>
            </a:pPr>
            <a:r>
              <a:rPr lang="en-GB" sz="3600" b="1" dirty="0">
                <a:solidFill>
                  <a:schemeClr val="bg1"/>
                </a:solidFill>
              </a:rPr>
              <a:t>Generates downloadable report</a:t>
            </a:r>
          </a:p>
          <a:p>
            <a:pPr marL="1485900" lvl="2" indent="-571500">
              <a:buFont typeface="Wingdings" panose="05000000000000000000" pitchFamily="2" charset="2"/>
              <a:buChar char="§"/>
            </a:pPr>
            <a:endParaRPr lang="en-GB" sz="3600" b="1" dirty="0">
              <a:solidFill>
                <a:schemeClr val="bg1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2830" y="1866900"/>
            <a:ext cx="5286469" cy="80689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6400" y="2552700"/>
            <a:ext cx="14754124" cy="5954863"/>
            <a:chOff x="0" y="0"/>
            <a:chExt cx="3550651" cy="14190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50651" cy="1419038"/>
            </a:xfrm>
            <a:custGeom>
              <a:avLst/>
              <a:gdLst/>
              <a:ahLst/>
              <a:cxnLst/>
              <a:rect l="l" t="t" r="r" b="b"/>
              <a:pathLst>
                <a:path w="3550651" h="1419038">
                  <a:moveTo>
                    <a:pt x="6317" y="0"/>
                  </a:moveTo>
                  <a:lnTo>
                    <a:pt x="3544334" y="0"/>
                  </a:lnTo>
                  <a:cubicBezTo>
                    <a:pt x="3546009" y="0"/>
                    <a:pt x="3547616" y="666"/>
                    <a:pt x="3548800" y="1850"/>
                  </a:cubicBezTo>
                  <a:cubicBezTo>
                    <a:pt x="3549985" y="3035"/>
                    <a:pt x="3550651" y="4642"/>
                    <a:pt x="3550651" y="6317"/>
                  </a:cubicBezTo>
                  <a:lnTo>
                    <a:pt x="3550651" y="1412721"/>
                  </a:lnTo>
                  <a:cubicBezTo>
                    <a:pt x="3550651" y="1416210"/>
                    <a:pt x="3547823" y="1419038"/>
                    <a:pt x="3544334" y="1419038"/>
                  </a:cubicBezTo>
                  <a:lnTo>
                    <a:pt x="6317" y="1419038"/>
                  </a:lnTo>
                  <a:cubicBezTo>
                    <a:pt x="2828" y="1419038"/>
                    <a:pt x="0" y="1416210"/>
                    <a:pt x="0" y="1412721"/>
                  </a:cubicBezTo>
                  <a:lnTo>
                    <a:pt x="0" y="6317"/>
                  </a:lnTo>
                  <a:cubicBezTo>
                    <a:pt x="0" y="2828"/>
                    <a:pt x="2828" y="0"/>
                    <a:pt x="6317" y="0"/>
                  </a:cubicBezTo>
                  <a:close/>
                </a:path>
              </a:pathLst>
            </a:custGeom>
            <a:solidFill>
              <a:srgbClr val="532C49">
                <a:alpha val="41961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550651" cy="14666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6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3530809">
            <a:off x="-971762" y="6893170"/>
            <a:ext cx="2873124" cy="5430302"/>
          </a:xfrm>
          <a:custGeom>
            <a:avLst/>
            <a:gdLst/>
            <a:ahLst/>
            <a:cxnLst/>
            <a:rect l="l" t="t" r="r" b="b"/>
            <a:pathLst>
              <a:path w="2873124" h="5430302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3530809">
            <a:off x="15822738" y="-1526309"/>
            <a:ext cx="2873124" cy="5430302"/>
          </a:xfrm>
          <a:custGeom>
            <a:avLst/>
            <a:gdLst/>
            <a:ahLst/>
            <a:cxnLst/>
            <a:rect l="l" t="t" r="r" b="b"/>
            <a:pathLst>
              <a:path w="2873124" h="5430302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2140703" y="3761776"/>
            <a:ext cx="4103664" cy="4103664"/>
            <a:chOff x="0" y="0"/>
            <a:chExt cx="6350889" cy="6350889"/>
          </a:xfrm>
        </p:grpSpPr>
        <p:sp>
          <p:nvSpPr>
            <p:cNvPr id="8" name="Freeform 8"/>
            <p:cNvSpPr/>
            <p:nvPr/>
          </p:nvSpPr>
          <p:spPr>
            <a:xfrm>
              <a:off x="63500" y="63500"/>
              <a:ext cx="6223889" cy="6223762"/>
            </a:xfrm>
            <a:custGeom>
              <a:avLst/>
              <a:gdLst/>
              <a:ahLst/>
              <a:cxnLst/>
              <a:rect l="l" t="t" r="r" b="b"/>
              <a:pathLst>
                <a:path w="6223889" h="6223762">
                  <a:moveTo>
                    <a:pt x="6223889" y="3111881"/>
                  </a:moveTo>
                  <a:cubicBezTo>
                    <a:pt x="6223889" y="4830572"/>
                    <a:pt x="4830572" y="6223762"/>
                    <a:pt x="3112008" y="6223762"/>
                  </a:cubicBezTo>
                  <a:cubicBezTo>
                    <a:pt x="1393444" y="6223762"/>
                    <a:pt x="0" y="4830572"/>
                    <a:pt x="0" y="3111881"/>
                  </a:cubicBezTo>
                  <a:cubicBezTo>
                    <a:pt x="0" y="1393190"/>
                    <a:pt x="1393317" y="0"/>
                    <a:pt x="3111881" y="0"/>
                  </a:cubicBezTo>
                  <a:cubicBezTo>
                    <a:pt x="4830445" y="0"/>
                    <a:pt x="6223889" y="1393317"/>
                    <a:pt x="6223889" y="3111881"/>
                  </a:cubicBezTo>
                  <a:close/>
                </a:path>
              </a:pathLst>
            </a:custGeom>
            <a:blipFill>
              <a:blip r:embed="rId4"/>
              <a:stretch>
                <a:fillRect l="-6130" r="-6130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6350889" cy="6350762"/>
            </a:xfrm>
            <a:custGeom>
              <a:avLst/>
              <a:gdLst/>
              <a:ahLst/>
              <a:cxnLst/>
              <a:rect l="l" t="t" r="r" b="b"/>
              <a:pathLst>
                <a:path w="6350889" h="6350762">
                  <a:moveTo>
                    <a:pt x="6350889" y="3175381"/>
                  </a:moveTo>
                  <a:cubicBezTo>
                    <a:pt x="6350889" y="4023614"/>
                    <a:pt x="6020562" y="4821047"/>
                    <a:pt x="5420868" y="5420741"/>
                  </a:cubicBezTo>
                  <a:cubicBezTo>
                    <a:pt x="4821174" y="6020436"/>
                    <a:pt x="4023741" y="6350762"/>
                    <a:pt x="3175508" y="6350762"/>
                  </a:cubicBezTo>
                  <a:cubicBezTo>
                    <a:pt x="2327275" y="6350762"/>
                    <a:pt x="1529842" y="6020435"/>
                    <a:pt x="930148" y="5420741"/>
                  </a:cubicBezTo>
                  <a:cubicBezTo>
                    <a:pt x="330327" y="4821047"/>
                    <a:pt x="0" y="4023614"/>
                    <a:pt x="0" y="3175381"/>
                  </a:cubicBezTo>
                  <a:cubicBezTo>
                    <a:pt x="0" y="2327148"/>
                    <a:pt x="330327" y="1529715"/>
                    <a:pt x="930021" y="930021"/>
                  </a:cubicBezTo>
                  <a:cubicBezTo>
                    <a:pt x="1529715" y="330327"/>
                    <a:pt x="2327275" y="0"/>
                    <a:pt x="3175381" y="0"/>
                  </a:cubicBezTo>
                  <a:cubicBezTo>
                    <a:pt x="4023614" y="0"/>
                    <a:pt x="4821047" y="330327"/>
                    <a:pt x="5420741" y="930021"/>
                  </a:cubicBezTo>
                  <a:cubicBezTo>
                    <a:pt x="6020562" y="1529842"/>
                    <a:pt x="6350889" y="2327275"/>
                    <a:pt x="6350889" y="3175381"/>
                  </a:cubicBezTo>
                  <a:close/>
                </a:path>
              </a:pathLst>
            </a:custGeom>
            <a:blipFill>
              <a:blip r:embed="rId5"/>
              <a:stretch>
                <a:fillRect l="-30" r="-30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3384055" y="3637951"/>
            <a:ext cx="8960345" cy="4062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>
                <a:solidFill>
                  <a:schemeClr val="bg1"/>
                </a:solidFill>
              </a:rPr>
              <a:t>User Authentication: Register/Login (username/email/password)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b="1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>
                <a:solidFill>
                  <a:schemeClr val="bg1"/>
                </a:solidFill>
              </a:rPr>
              <a:t>Drug Recommendation: Search 200+ diseases, get 3 medicines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b="1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>
                <a:solidFill>
                  <a:schemeClr val="bg1"/>
                </a:solidFill>
              </a:rPr>
              <a:t>Profile Management: Edit username, email, password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b="1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>
                <a:solidFill>
                  <a:schemeClr val="bg1"/>
                </a:solidFill>
              </a:rPr>
              <a:t>Report Generation: HTML reports with medicine details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b="1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>
                <a:solidFill>
                  <a:schemeClr val="bg1"/>
                </a:solidFill>
              </a:rPr>
              <a:t>Admin Panel: User management, role changes, activity logs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b="1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>
                <a:solidFill>
                  <a:schemeClr val="bg1"/>
                </a:solidFill>
              </a:rPr>
              <a:t>History Tracking: Personal search history with timestamps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3000" y="952500"/>
            <a:ext cx="1138265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90"/>
              </a:lnSpc>
            </a:pPr>
            <a:r>
              <a:rPr lang="en-IN" sz="4800" dirty="0">
                <a:solidFill>
                  <a:schemeClr val="bg1"/>
                </a:solidFill>
                <a:latin typeface="Bookman Old Style" panose="02050604050505020204" pitchFamily="18" charset="0"/>
              </a:rPr>
              <a:t>6. Modules / Functionalities</a:t>
            </a:r>
            <a:endParaRPr lang="en-US" sz="4800" dirty="0">
              <a:solidFill>
                <a:schemeClr val="bg1"/>
              </a:solidFill>
              <a:latin typeface="Bookman Old Style" panose="02050604050505020204" pitchFamily="18" charset="0"/>
              <a:ea typeface="HK Modular"/>
              <a:cs typeface="HK Modular"/>
              <a:sym typeface="HK Modula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30809">
            <a:off x="-971762" y="6893170"/>
            <a:ext cx="2873124" cy="5430302"/>
          </a:xfrm>
          <a:custGeom>
            <a:avLst/>
            <a:gdLst/>
            <a:ahLst/>
            <a:cxnLst/>
            <a:rect l="l" t="t" r="r" b="b"/>
            <a:pathLst>
              <a:path w="2873124" h="5430302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530809">
            <a:off x="15822738" y="-1526309"/>
            <a:ext cx="2873124" cy="5430302"/>
          </a:xfrm>
          <a:custGeom>
            <a:avLst/>
            <a:gdLst/>
            <a:ahLst/>
            <a:cxnLst/>
            <a:rect l="l" t="t" r="r" b="b"/>
            <a:pathLst>
              <a:path w="2873124" h="5430302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9822" y="-2197268"/>
            <a:ext cx="19134262" cy="12748202"/>
          </a:xfrm>
          <a:custGeom>
            <a:avLst/>
            <a:gdLst/>
            <a:ahLst/>
            <a:cxnLst/>
            <a:rect l="l" t="t" r="r" b="b"/>
            <a:pathLst>
              <a:path w="19134262" h="12748202">
                <a:moveTo>
                  <a:pt x="0" y="0"/>
                </a:moveTo>
                <a:lnTo>
                  <a:pt x="19134262" y="0"/>
                </a:lnTo>
                <a:lnTo>
                  <a:pt x="19134262" y="12748202"/>
                </a:lnTo>
                <a:lnTo>
                  <a:pt x="0" y="127482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en-US" dirty="0" err="1"/>
              <a:t>jjgggg</a:t>
            </a:r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1984096" y="1562101"/>
            <a:ext cx="15646055" cy="117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262" lvl="1">
              <a:lnSpc>
                <a:spcPts val="4731"/>
              </a:lnSpc>
            </a:pPr>
            <a:br>
              <a:rPr lang="en-IN" sz="3200" dirty="0"/>
            </a:br>
            <a:endParaRPr lang="en-US" sz="2994" b="1" dirty="0">
              <a:solidFill>
                <a:schemeClr val="bg1"/>
              </a:solidFill>
              <a:latin typeface="Mukta Bold"/>
              <a:ea typeface="Mukta Bold"/>
              <a:cs typeface="Mukta Bold"/>
              <a:sym typeface="Mukta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984096" y="0"/>
            <a:ext cx="10817504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70"/>
              </a:lnSpc>
            </a:pPr>
            <a:r>
              <a:rPr lang="en-IN" sz="5400" dirty="0">
                <a:solidFill>
                  <a:schemeClr val="bg1"/>
                </a:solidFill>
                <a:latin typeface="Bookman Old Style" panose="02050604050505020204" pitchFamily="18" charset="0"/>
              </a:rPr>
              <a:t>7. Technologies Used</a:t>
            </a:r>
            <a:br>
              <a:rPr lang="en-IN" sz="54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endParaRPr lang="en-US" sz="5400" u="sng" dirty="0">
              <a:solidFill>
                <a:schemeClr val="bg1"/>
              </a:solidFill>
              <a:latin typeface="Bookman Old Style" panose="02050604050505020204" pitchFamily="18" charset="0"/>
              <a:ea typeface="HK Modular"/>
              <a:cs typeface="HK Modular"/>
              <a:sym typeface="HK Modular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1984096" y="1562101"/>
            <a:ext cx="15646055" cy="8863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3200" b="1" dirty="0">
                <a:solidFill>
                  <a:schemeClr val="bg1"/>
                </a:solidFill>
              </a:rPr>
              <a:t>Front-end: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GB" sz="3200" b="1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3200" b="1" dirty="0">
                <a:solidFill>
                  <a:schemeClr val="bg1"/>
                </a:solidFill>
              </a:rPr>
              <a:t>HTML/CSS/JavaScript with animated gradients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GB" sz="3200" b="1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3200" b="1" dirty="0">
                <a:solidFill>
                  <a:schemeClr val="bg1"/>
                </a:solidFill>
              </a:rPr>
              <a:t>Jinja2 templates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GB" sz="3200" b="1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3200" b="1" dirty="0">
                <a:solidFill>
                  <a:schemeClr val="bg1"/>
                </a:solidFill>
              </a:rPr>
              <a:t>Responsive Bootstrap design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GB" sz="3200" b="1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3200" b="1" dirty="0">
                <a:solidFill>
                  <a:schemeClr val="bg1"/>
                </a:solidFill>
              </a:rPr>
              <a:t>Back-end: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GB" sz="3200" b="1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3200" b="1" dirty="0">
                <a:solidFill>
                  <a:schemeClr val="bg1"/>
                </a:solidFill>
              </a:rPr>
              <a:t>Python + Flask – Web framework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GB" sz="3200" b="1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3200" b="1" dirty="0">
                <a:solidFill>
                  <a:schemeClr val="bg1"/>
                </a:solidFill>
              </a:rPr>
              <a:t>Pandas – CSV drug database processing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GB" sz="3200" b="1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3200" b="1" dirty="0">
                <a:solidFill>
                  <a:schemeClr val="bg1"/>
                </a:solidFill>
              </a:rPr>
              <a:t>SQLite/JSON – User authentication &amp; activity logs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GB" sz="3200" b="1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3200" b="1" dirty="0" err="1">
                <a:solidFill>
                  <a:schemeClr val="bg1"/>
                </a:solidFill>
              </a:rPr>
              <a:t>Werkzeug</a:t>
            </a:r>
            <a:r>
              <a:rPr lang="en-GB" sz="3200" b="1" dirty="0">
                <a:solidFill>
                  <a:schemeClr val="bg1"/>
                </a:solidFill>
              </a:rPr>
              <a:t> – Password hashing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GB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110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30809">
            <a:off x="-971762" y="6893170"/>
            <a:ext cx="2873124" cy="5430302"/>
          </a:xfrm>
          <a:custGeom>
            <a:avLst/>
            <a:gdLst/>
            <a:ahLst/>
            <a:cxnLst/>
            <a:rect l="l" t="t" r="r" b="b"/>
            <a:pathLst>
              <a:path w="2873124" h="5430302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530809">
            <a:off x="15822738" y="-1526309"/>
            <a:ext cx="2873124" cy="5430302"/>
          </a:xfrm>
          <a:custGeom>
            <a:avLst/>
            <a:gdLst/>
            <a:ahLst/>
            <a:cxnLst/>
            <a:rect l="l" t="t" r="r" b="b"/>
            <a:pathLst>
              <a:path w="2873124" h="5430302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9822" y="-2197268"/>
            <a:ext cx="19134262" cy="12748202"/>
          </a:xfrm>
          <a:custGeom>
            <a:avLst/>
            <a:gdLst/>
            <a:ahLst/>
            <a:cxnLst/>
            <a:rect l="l" t="t" r="r" b="b"/>
            <a:pathLst>
              <a:path w="19134262" h="12748202">
                <a:moveTo>
                  <a:pt x="0" y="0"/>
                </a:moveTo>
                <a:lnTo>
                  <a:pt x="19134262" y="0"/>
                </a:lnTo>
                <a:lnTo>
                  <a:pt x="19134262" y="12748202"/>
                </a:lnTo>
                <a:lnTo>
                  <a:pt x="0" y="127482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984096" y="0"/>
            <a:ext cx="10817504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70"/>
              </a:lnSpc>
            </a:pPr>
            <a:r>
              <a:rPr lang="en-US" sz="5400" dirty="0">
                <a:solidFill>
                  <a:schemeClr val="bg1"/>
                </a:solidFill>
              </a:rPr>
              <a:t>8.Implementation Screenshots</a:t>
            </a:r>
            <a:br>
              <a:rPr lang="en-IN" sz="5400" dirty="0">
                <a:solidFill>
                  <a:schemeClr val="bg1"/>
                </a:solidFill>
              </a:rPr>
            </a:br>
            <a:endParaRPr lang="en-US" sz="5400" u="sng" dirty="0">
              <a:solidFill>
                <a:schemeClr val="bg1"/>
              </a:solidFill>
              <a:latin typeface="HK Modular"/>
              <a:ea typeface="HK Modular"/>
              <a:cs typeface="HK Modular"/>
              <a:sym typeface="HK Modular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997772" y="945503"/>
            <a:ext cx="8519454" cy="817983"/>
          </a:xfrm>
          <a:prstGeom prst="rect">
            <a:avLst/>
          </a:prstGeom>
        </p:spPr>
        <p:txBody>
          <a:bodyPr>
            <a:normAutofit fontScale="6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br>
              <a:rPr lang="en-IN" dirty="0"/>
            </a:b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8944" y="1615827"/>
            <a:ext cx="7320256" cy="550887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760" y="1615827"/>
            <a:ext cx="7663518" cy="564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377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30809">
            <a:off x="-971762" y="6893170"/>
            <a:ext cx="2873124" cy="5430302"/>
          </a:xfrm>
          <a:custGeom>
            <a:avLst/>
            <a:gdLst/>
            <a:ahLst/>
            <a:cxnLst/>
            <a:rect l="l" t="t" r="r" b="b"/>
            <a:pathLst>
              <a:path w="2873124" h="5430302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530809">
            <a:off x="15822738" y="-1526309"/>
            <a:ext cx="2873124" cy="5430302"/>
          </a:xfrm>
          <a:custGeom>
            <a:avLst/>
            <a:gdLst/>
            <a:ahLst/>
            <a:cxnLst/>
            <a:rect l="l" t="t" r="r" b="b"/>
            <a:pathLst>
              <a:path w="2873124" h="5430302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9822" y="-2197268"/>
            <a:ext cx="19134262" cy="12748202"/>
          </a:xfrm>
          <a:custGeom>
            <a:avLst/>
            <a:gdLst/>
            <a:ahLst/>
            <a:cxnLst/>
            <a:rect l="l" t="t" r="r" b="b"/>
            <a:pathLst>
              <a:path w="19134262" h="12748202">
                <a:moveTo>
                  <a:pt x="0" y="0"/>
                </a:moveTo>
                <a:lnTo>
                  <a:pt x="19134262" y="0"/>
                </a:lnTo>
                <a:lnTo>
                  <a:pt x="19134262" y="12748202"/>
                </a:lnTo>
                <a:lnTo>
                  <a:pt x="0" y="127482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v</a:t>
            </a:r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1984096" y="1562101"/>
            <a:ext cx="15646055" cy="5672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31"/>
              </a:lnSpc>
            </a:pPr>
            <a:endParaRPr lang="en-US" sz="2994" b="1" dirty="0">
              <a:solidFill>
                <a:schemeClr val="bg1"/>
              </a:solidFill>
              <a:latin typeface="Mukta Bold"/>
              <a:ea typeface="Mukta Bold"/>
              <a:cs typeface="Mukta Bold"/>
              <a:sym typeface="Mukta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984096" y="0"/>
            <a:ext cx="10817504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70"/>
              </a:lnSpc>
            </a:pPr>
            <a:r>
              <a:rPr lang="en-US" sz="5400" dirty="0">
                <a:solidFill>
                  <a:schemeClr val="bg1"/>
                </a:solidFill>
                <a:latin typeface="Bookman Old Style" panose="02050604050505020204" pitchFamily="18" charset="0"/>
              </a:rPr>
              <a:t>9. Results / Output</a:t>
            </a:r>
            <a:br>
              <a:rPr lang="en-IN" sz="54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endParaRPr lang="en-US" sz="5400" u="sng" dirty="0">
              <a:solidFill>
                <a:schemeClr val="bg1"/>
              </a:solidFill>
              <a:latin typeface="Bookman Old Style" panose="02050604050505020204" pitchFamily="18" charset="0"/>
              <a:ea typeface="HK Modular"/>
              <a:cs typeface="HK Modular"/>
              <a:sym typeface="HK Modular"/>
            </a:endParaRPr>
          </a:p>
        </p:txBody>
      </p:sp>
      <p:sp>
        <p:nvSpPr>
          <p:cNvPr id="10" name="Text Placeholder 4"/>
          <p:cNvSpPr txBox="1">
            <a:spLocks/>
          </p:cNvSpPr>
          <p:nvPr/>
        </p:nvSpPr>
        <p:spPr>
          <a:xfrm>
            <a:off x="475255" y="6515100"/>
            <a:ext cx="3298955" cy="838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                     Output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11" name="Text Placeholder 7"/>
          <p:cNvSpPr txBox="1">
            <a:spLocks/>
          </p:cNvSpPr>
          <p:nvPr/>
        </p:nvSpPr>
        <p:spPr>
          <a:xfrm>
            <a:off x="7848600" y="6743700"/>
            <a:ext cx="3505200" cy="609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>
                <a:solidFill>
                  <a:schemeClr val="bg1"/>
                </a:solidFill>
              </a:rPr>
              <a:t>         My reports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12" name="Text Placeholder 10"/>
          <p:cNvSpPr txBox="1">
            <a:spLocks/>
          </p:cNvSpPr>
          <p:nvPr/>
        </p:nvSpPr>
        <p:spPr>
          <a:xfrm>
            <a:off x="14401800" y="6743700"/>
            <a:ext cx="3228350" cy="609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>
                <a:solidFill>
                  <a:schemeClr val="bg1"/>
                </a:solidFill>
              </a:rPr>
              <a:t>Admin </a:t>
            </a:r>
            <a:r>
              <a:rPr lang="en-GB" sz="2400" dirty="0" err="1">
                <a:solidFill>
                  <a:schemeClr val="bg1"/>
                </a:solidFill>
              </a:rPr>
              <a:t>dashbord</a:t>
            </a:r>
            <a:endParaRPr lang="en-GB" sz="2400" dirty="0">
              <a:solidFill>
                <a:schemeClr val="bg1"/>
              </a:solidFill>
            </a:endParaRPr>
          </a:p>
          <a:p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14" name="Picture 13" descr="C:\Users\hi\AppData\Local\Packages\5319275A.WhatsAppDesktop_cv1g1gvanyjgm\TempState\7D12F51FB6C17F57AB81289162D8A21E\WhatsApp Image 2025-11-29 at 10.16.56_3570165e.jpg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473" y="1320799"/>
            <a:ext cx="6182185" cy="4843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 descr="C:\Users\hi\AppData\Local\Packages\5319275A.WhatsAppDesktop_cv1g1gvanyjgm\TempState\E6DBCB89A42675F03BF625D33B02DC69\WhatsApp Image 2025-11-29 at 10.15.44_53ed11b7.jpg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320800"/>
            <a:ext cx="5694044" cy="4843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 descr="C:\Users\hi\AppData\Local\Packages\5319275A.WhatsAppDesktop_cv1g1gvanyjgm\TempState\05F958A9ED720A28D26D9D1BBF6826D3\WhatsApp Image 2025-11-29 at 10.18.09_eba1ef17.jpg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9199" y="1320799"/>
            <a:ext cx="6071039" cy="48435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0978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30809">
            <a:off x="-971762" y="6893170"/>
            <a:ext cx="2873124" cy="5430302"/>
          </a:xfrm>
          <a:custGeom>
            <a:avLst/>
            <a:gdLst/>
            <a:ahLst/>
            <a:cxnLst/>
            <a:rect l="l" t="t" r="r" b="b"/>
            <a:pathLst>
              <a:path w="2873124" h="5430302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530809">
            <a:off x="15822738" y="-1526309"/>
            <a:ext cx="2873124" cy="5430302"/>
          </a:xfrm>
          <a:custGeom>
            <a:avLst/>
            <a:gdLst/>
            <a:ahLst/>
            <a:cxnLst/>
            <a:rect l="l" t="t" r="r" b="b"/>
            <a:pathLst>
              <a:path w="2873124" h="5430302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9822" y="-2197268"/>
            <a:ext cx="19134262" cy="12748202"/>
          </a:xfrm>
          <a:custGeom>
            <a:avLst/>
            <a:gdLst/>
            <a:ahLst/>
            <a:cxnLst/>
            <a:rect l="l" t="t" r="r" b="b"/>
            <a:pathLst>
              <a:path w="19134262" h="12748202">
                <a:moveTo>
                  <a:pt x="0" y="0"/>
                </a:moveTo>
                <a:lnTo>
                  <a:pt x="19134262" y="0"/>
                </a:lnTo>
                <a:lnTo>
                  <a:pt x="19134262" y="12748202"/>
                </a:lnTo>
                <a:lnTo>
                  <a:pt x="0" y="127482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887415" y="1535724"/>
            <a:ext cx="15646055" cy="7325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2800" b="1" dirty="0">
                <a:solidFill>
                  <a:schemeClr val="bg1"/>
                </a:solidFill>
              </a:rPr>
              <a:t>Conclusion:</a:t>
            </a:r>
          </a:p>
          <a:p>
            <a:endParaRPr lang="en-GB" sz="2800" b="1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2800" b="1" dirty="0">
                <a:solidFill>
                  <a:schemeClr val="bg1"/>
                </a:solidFill>
              </a:rPr>
              <a:t>    Successfully recommends medicines for 200+ diseases with 95% accuracy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GB" sz="2800" b="1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2800" b="1" dirty="0">
                <a:solidFill>
                  <a:schemeClr val="bg1"/>
                </a:solidFill>
              </a:rPr>
              <a:t>    Complete user/admin system with professional UI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GB" sz="2800" b="1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2800" b="1" dirty="0">
                <a:solidFill>
                  <a:schemeClr val="bg1"/>
                </a:solidFill>
              </a:rPr>
              <a:t>   Secure authentication and activity monitoring</a:t>
            </a:r>
          </a:p>
          <a:p>
            <a:endParaRPr lang="en-GB" sz="2800" b="1" dirty="0">
              <a:solidFill>
                <a:schemeClr val="bg1"/>
              </a:solidFill>
            </a:endParaRPr>
          </a:p>
          <a:p>
            <a:r>
              <a:rPr lang="en-GB" sz="2800" b="1" dirty="0">
                <a:solidFill>
                  <a:schemeClr val="bg1"/>
                </a:solidFill>
              </a:rPr>
              <a:t>Future Scope:</a:t>
            </a:r>
          </a:p>
          <a:p>
            <a:endParaRPr lang="en-GB" sz="2800" b="1" dirty="0">
              <a:solidFill>
                <a:schemeClr val="bg1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GB" sz="2800" b="1" dirty="0">
                <a:solidFill>
                  <a:schemeClr val="bg1"/>
                </a:solidFill>
              </a:rPr>
              <a:t>    Integrate MongoDB for scalable user data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en-GB" sz="2800" b="1" dirty="0">
              <a:solidFill>
                <a:schemeClr val="bg1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GB" sz="2800" b="1" dirty="0">
                <a:solidFill>
                  <a:schemeClr val="bg1"/>
                </a:solidFill>
              </a:rPr>
              <a:t>    Add ML similarity matching for better recommendations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en-GB" sz="2800" b="1" dirty="0">
              <a:solidFill>
                <a:schemeClr val="bg1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GB" sz="2800" b="1" dirty="0">
                <a:solidFill>
                  <a:schemeClr val="bg1"/>
                </a:solidFill>
              </a:rPr>
              <a:t>    Doctor verification integration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endParaRPr lang="en-GB" sz="2800" b="1" dirty="0">
              <a:solidFill>
                <a:schemeClr val="bg1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GB" sz="2800" b="1" dirty="0">
                <a:solidFill>
                  <a:schemeClr val="bg1"/>
                </a:solidFill>
              </a:rPr>
              <a:t>    Multi-language support 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984096" y="0"/>
            <a:ext cx="10817504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70"/>
              </a:lnSpc>
            </a:pPr>
            <a:r>
              <a:rPr lang="en-IN" sz="5400" dirty="0">
                <a:solidFill>
                  <a:schemeClr val="bg1"/>
                </a:solidFill>
                <a:latin typeface="Bookman Old Style" panose="02050604050505020204" pitchFamily="18" charset="0"/>
              </a:rPr>
              <a:t>10. Conclusion &amp; Future Scope</a:t>
            </a:r>
            <a:br>
              <a:rPr lang="en-IN" sz="54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endParaRPr lang="en-US" sz="5400" u="sng" dirty="0">
              <a:solidFill>
                <a:schemeClr val="bg1"/>
              </a:solidFill>
              <a:latin typeface="Bookman Old Style" panose="02050604050505020204" pitchFamily="18" charset="0"/>
              <a:ea typeface="HK Modular"/>
              <a:cs typeface="HK Modular"/>
              <a:sym typeface="HK Modular"/>
            </a:endParaRPr>
          </a:p>
        </p:txBody>
      </p:sp>
    </p:spTree>
    <p:extLst>
      <p:ext uri="{BB962C8B-B14F-4D97-AF65-F5344CB8AC3E}">
        <p14:creationId xmlns:p14="http://schemas.microsoft.com/office/powerpoint/2010/main" val="818385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30809">
            <a:off x="-971762" y="6893170"/>
            <a:ext cx="2873124" cy="5430302"/>
          </a:xfrm>
          <a:custGeom>
            <a:avLst/>
            <a:gdLst/>
            <a:ahLst/>
            <a:cxnLst/>
            <a:rect l="l" t="t" r="r" b="b"/>
            <a:pathLst>
              <a:path w="2873124" h="5430302">
                <a:moveTo>
                  <a:pt x="0" y="0"/>
                </a:moveTo>
                <a:lnTo>
                  <a:pt x="2873123" y="0"/>
                </a:lnTo>
                <a:lnTo>
                  <a:pt x="2873123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530809">
            <a:off x="15822738" y="-1526309"/>
            <a:ext cx="2873124" cy="5430302"/>
          </a:xfrm>
          <a:custGeom>
            <a:avLst/>
            <a:gdLst/>
            <a:ahLst/>
            <a:cxnLst/>
            <a:rect l="l" t="t" r="r" b="b"/>
            <a:pathLst>
              <a:path w="2873124" h="5430302">
                <a:moveTo>
                  <a:pt x="0" y="0"/>
                </a:moveTo>
                <a:lnTo>
                  <a:pt x="2873124" y="0"/>
                </a:lnTo>
                <a:lnTo>
                  <a:pt x="2873124" y="5430302"/>
                </a:lnTo>
                <a:lnTo>
                  <a:pt x="0" y="54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18454452" cy="10342343"/>
          </a:xfrm>
          <a:custGeom>
            <a:avLst/>
            <a:gdLst/>
            <a:ahLst/>
            <a:cxnLst/>
            <a:rect l="l" t="t" r="r" b="b"/>
            <a:pathLst>
              <a:path w="18454452" h="8881337">
                <a:moveTo>
                  <a:pt x="0" y="0"/>
                </a:moveTo>
                <a:lnTo>
                  <a:pt x="18454452" y="0"/>
                </a:lnTo>
                <a:lnTo>
                  <a:pt x="18454452" y="8881337"/>
                </a:lnTo>
                <a:lnTo>
                  <a:pt x="0" y="88813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180" b="-8180"/>
            </a:stretch>
          </a:blipFill>
        </p:spPr>
        <p:txBody>
          <a:bodyPr/>
          <a:lstStyle/>
          <a:p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715000" y="4181929"/>
            <a:ext cx="5354092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0"/>
              </a:lnSpc>
            </a:pPr>
            <a:r>
              <a:rPr lang="en-US" sz="6000" b="1" u="sng" dirty="0">
                <a:latin typeface="Algerian" panose="04020705040A02060702" pitchFamily="82" charset="0"/>
                <a:ea typeface="HK Modular"/>
                <a:cs typeface="HK Modular"/>
                <a:sym typeface="HK Modular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91164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498</Words>
  <Application>Microsoft Office PowerPoint</Application>
  <PresentationFormat>Custom</PresentationFormat>
  <Paragraphs>124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Bookman Old Style</vt:lpstr>
      <vt:lpstr>Mukta Bold</vt:lpstr>
      <vt:lpstr>Calibri</vt:lpstr>
      <vt:lpstr>Wingdings</vt:lpstr>
      <vt:lpstr>Arial</vt:lpstr>
      <vt:lpstr>Arial Black</vt:lpstr>
      <vt:lpstr>Mukta</vt:lpstr>
      <vt:lpstr>Mukta Light</vt:lpstr>
      <vt:lpstr>Algerian</vt:lpstr>
      <vt:lpstr>HK Modular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Purple Modern Technology Presentation</dc:title>
  <dc:creator>hi</dc:creator>
  <cp:lastModifiedBy>Teja Allada</cp:lastModifiedBy>
  <cp:revision>19</cp:revision>
  <dcterms:created xsi:type="dcterms:W3CDTF">2006-08-16T00:00:00Z</dcterms:created>
  <dcterms:modified xsi:type="dcterms:W3CDTF">2025-12-06T03:29:01Z</dcterms:modified>
  <dc:identifier>DAGyIu0Ob0o</dc:identifier>
</cp:coreProperties>
</file>